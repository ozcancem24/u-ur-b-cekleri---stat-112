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senica Antiqua" pitchFamily="2" charset="0"/>
      <p:regular r:id="rId13"/>
    </p:embeddedFont>
    <p:embeddedFont>
      <p:font typeface="Canva Sans" panose="020B0503030501040103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1" autoAdjust="0"/>
  </p:normalViewPr>
  <p:slideViewPr>
    <p:cSldViewPr>
      <p:cViewPr varScale="1">
        <p:scale>
          <a:sx n="73" d="100"/>
          <a:sy n="73" d="100"/>
        </p:scale>
        <p:origin x="70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A3359-33AE-9046-A95D-CD73057A13BF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60EC9-1BD5-3B40-AE50-B64CDE125E4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958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0EC9-1BD5-3B40-AE50-B64CDE125E4D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4971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0EC9-1BD5-3B40-AE50-B64CDE125E4D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803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microsoft.com/office/2011/relationships/webextension" Target="../webextensions/webextension1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6317" y="0"/>
            <a:ext cx="8001000" cy="10287000"/>
            <a:chOff x="0" y="0"/>
            <a:chExt cx="21072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7259" cy="2709333"/>
            </a:xfrm>
            <a:custGeom>
              <a:avLst/>
              <a:gdLst/>
              <a:ahLst/>
              <a:cxnLst/>
              <a:rect l="l" t="t" r="r" b="b"/>
              <a:pathLst>
                <a:path w="2107259" h="2709333">
                  <a:moveTo>
                    <a:pt x="0" y="0"/>
                  </a:moveTo>
                  <a:lnTo>
                    <a:pt x="2107259" y="0"/>
                  </a:lnTo>
                  <a:lnTo>
                    <a:pt x="21072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E9E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2107259" cy="2823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571500"/>
            <a:ext cx="6886575" cy="298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>
                <a:solidFill>
                  <a:srgbClr val="D92323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Uğur</a:t>
            </a:r>
          </a:p>
          <a:p>
            <a:pPr marL="0" lvl="0" indent="0" algn="l">
              <a:lnSpc>
                <a:spcPts val="10400"/>
              </a:lnSpc>
            </a:pPr>
            <a:r>
              <a:rPr lang="en-US" sz="10400">
                <a:solidFill>
                  <a:srgbClr val="D92323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Böcekleri</a:t>
            </a:r>
          </a:p>
        </p:txBody>
      </p:sp>
      <p:sp>
        <p:nvSpPr>
          <p:cNvPr id="6" name="Freeform 6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7" name="Group 7"/>
          <p:cNvGrpSpPr/>
          <p:nvPr/>
        </p:nvGrpSpPr>
        <p:grpSpPr>
          <a:xfrm>
            <a:off x="9029700" y="1028700"/>
            <a:ext cx="8229600" cy="82296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6904" y="5076825"/>
            <a:ext cx="3476774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Members: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Cem Özcan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Fırat Haşhaş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Berfin Şimşek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Ravza Nur Erkal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319165"/>
            <a:ext cx="16230600" cy="7648670"/>
          </a:xfrm>
          <a:custGeom>
            <a:avLst/>
            <a:gdLst/>
            <a:ahLst/>
            <a:cxnLst/>
            <a:rect l="l" t="t" r="r" b="b"/>
            <a:pathLst>
              <a:path w="16230600" h="7648670">
                <a:moveTo>
                  <a:pt x="0" y="0"/>
                </a:moveTo>
                <a:lnTo>
                  <a:pt x="16230600" y="0"/>
                </a:lnTo>
                <a:lnTo>
                  <a:pt x="16230600" y="7648670"/>
                </a:lnTo>
                <a:lnTo>
                  <a:pt x="0" y="764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217165"/>
            <a:ext cx="16230600" cy="81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Is there a seasonal trend in total purchase amount?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319165"/>
            <a:ext cx="16230600" cy="7648670"/>
          </a:xfrm>
          <a:custGeom>
            <a:avLst/>
            <a:gdLst/>
            <a:ahLst/>
            <a:cxnLst/>
            <a:rect l="l" t="t" r="r" b="b"/>
            <a:pathLst>
              <a:path w="16230600" h="7648670">
                <a:moveTo>
                  <a:pt x="0" y="0"/>
                </a:moveTo>
                <a:lnTo>
                  <a:pt x="16230600" y="0"/>
                </a:lnTo>
                <a:lnTo>
                  <a:pt x="16230600" y="7648670"/>
                </a:lnTo>
                <a:lnTo>
                  <a:pt x="0" y="764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226690"/>
            <a:ext cx="16230600" cy="75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00"/>
              </a:lnSpc>
              <a:spcBef>
                <a:spcPct val="0"/>
              </a:spcBef>
            </a:pPr>
            <a:r>
              <a:rPr lang="en-US" sz="47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Is there a correlation between product categories and cities?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25900" y="666750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427889" y="7410389"/>
            <a:ext cx="2371452" cy="237145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619125"/>
            <a:ext cx="16059150" cy="88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5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What is the age distribution of customers per city?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69102" y="2004188"/>
            <a:ext cx="14352148" cy="7777653"/>
            <a:chOff x="0" y="0"/>
            <a:chExt cx="2407532" cy="13046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7533" cy="1304679"/>
            </a:xfrm>
            <a:custGeom>
              <a:avLst/>
              <a:gdLst/>
              <a:ahLst/>
              <a:cxnLst/>
              <a:rect l="l" t="t" r="r" b="b"/>
              <a:pathLst>
                <a:path w="2407533" h="1304679">
                  <a:moveTo>
                    <a:pt x="0" y="0"/>
                  </a:moveTo>
                  <a:lnTo>
                    <a:pt x="2407533" y="0"/>
                  </a:lnTo>
                  <a:lnTo>
                    <a:pt x="2407533" y="1304679"/>
                  </a:lnTo>
                  <a:lnTo>
                    <a:pt x="0" y="1304679"/>
                  </a:lnTo>
                  <a:close/>
                </a:path>
              </a:pathLst>
            </a:custGeom>
            <a:blipFill>
              <a:blip r:embed="rId5"/>
              <a:stretch>
                <a:fillRect t="-3295" r="-7968" b="-3295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3111703"/>
            <a:ext cx="3269102" cy="278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805" lvl="1" indent="-323903" algn="ctr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demographic differences</a:t>
            </a:r>
          </a:p>
          <a:p>
            <a:pPr marL="647805" lvl="1" indent="-323903" algn="ctr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target audience </a:t>
            </a:r>
          </a:p>
          <a:p>
            <a:pPr marL="647805" lvl="1" indent="-323903" algn="ctr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city-based marketing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4345" y="7406086"/>
            <a:ext cx="2375756" cy="2375756"/>
          </a:xfrm>
          <a:custGeom>
            <a:avLst/>
            <a:gdLst/>
            <a:ahLst/>
            <a:cxnLst/>
            <a:rect l="l" t="t" r="r" b="b"/>
            <a:pathLst>
              <a:path w="2375756" h="2375756">
                <a:moveTo>
                  <a:pt x="0" y="0"/>
                </a:moveTo>
                <a:lnTo>
                  <a:pt x="2375756" y="0"/>
                </a:lnTo>
                <a:lnTo>
                  <a:pt x="2375756" y="2375756"/>
                </a:lnTo>
                <a:lnTo>
                  <a:pt x="0" y="237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595284" y="7737024"/>
            <a:ext cx="1713878" cy="171387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69102" y="1979259"/>
            <a:ext cx="14352148" cy="7802583"/>
            <a:chOff x="0" y="0"/>
            <a:chExt cx="2407532" cy="13088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7533" cy="1308861"/>
            </a:xfrm>
            <a:custGeom>
              <a:avLst/>
              <a:gdLst/>
              <a:ahLst/>
              <a:cxnLst/>
              <a:rect l="l" t="t" r="r" b="b"/>
              <a:pathLst>
                <a:path w="2407533" h="1308861">
                  <a:moveTo>
                    <a:pt x="0" y="0"/>
                  </a:moveTo>
                  <a:lnTo>
                    <a:pt x="2407533" y="0"/>
                  </a:lnTo>
                  <a:lnTo>
                    <a:pt x="2407533" y="1308861"/>
                  </a:lnTo>
                  <a:lnTo>
                    <a:pt x="0" y="1308861"/>
                  </a:lnTo>
                  <a:close/>
                </a:path>
              </a:pathLst>
            </a:custGeom>
            <a:blipFill>
              <a:blip r:embed="rId5"/>
              <a:stretch>
                <a:fillRect t="-3122" r="-2210" b="-310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609600"/>
            <a:ext cx="16592550" cy="88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54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What is the gender distribution of customers per city?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232785" y="9563100"/>
            <a:ext cx="848677" cy="242888"/>
            <a:chOff x="0" y="0"/>
            <a:chExt cx="1131570" cy="323850"/>
          </a:xfrm>
        </p:grpSpPr>
        <p:sp>
          <p:nvSpPr>
            <p:cNvPr id="9" name="Freeform 9"/>
            <p:cNvSpPr/>
            <p:nvPr/>
          </p:nvSpPr>
          <p:spPr>
            <a:xfrm>
              <a:off x="49213" y="50405"/>
              <a:ext cx="1030450" cy="225508"/>
            </a:xfrm>
            <a:custGeom>
              <a:avLst/>
              <a:gdLst/>
              <a:ahLst/>
              <a:cxnLst/>
              <a:rect l="l" t="t" r="r" b="b"/>
              <a:pathLst>
                <a:path w="1030450" h="225508">
                  <a:moveTo>
                    <a:pt x="726757" y="189625"/>
                  </a:moveTo>
                  <a:cubicBezTo>
                    <a:pt x="1026477" y="185815"/>
                    <a:pt x="1030287" y="190895"/>
                    <a:pt x="1030287" y="194705"/>
                  </a:cubicBezTo>
                  <a:cubicBezTo>
                    <a:pt x="1031557" y="198515"/>
                    <a:pt x="1025207" y="206135"/>
                    <a:pt x="1018857" y="208675"/>
                  </a:cubicBezTo>
                  <a:cubicBezTo>
                    <a:pt x="998537" y="215025"/>
                    <a:pt x="936307" y="190895"/>
                    <a:pt x="890587" y="184545"/>
                  </a:cubicBezTo>
                  <a:cubicBezTo>
                    <a:pt x="837247" y="178195"/>
                    <a:pt x="740727" y="187085"/>
                    <a:pt x="719137" y="175655"/>
                  </a:cubicBezTo>
                  <a:cubicBezTo>
                    <a:pt x="712787" y="171845"/>
                    <a:pt x="708977" y="165495"/>
                    <a:pt x="710247" y="161685"/>
                  </a:cubicBezTo>
                  <a:cubicBezTo>
                    <a:pt x="710247" y="156605"/>
                    <a:pt x="715327" y="152795"/>
                    <a:pt x="722947" y="150255"/>
                  </a:cubicBezTo>
                  <a:cubicBezTo>
                    <a:pt x="745807" y="143905"/>
                    <a:pt x="881697" y="159145"/>
                    <a:pt x="891857" y="176925"/>
                  </a:cubicBezTo>
                  <a:cubicBezTo>
                    <a:pt x="895667" y="183275"/>
                    <a:pt x="890587" y="193435"/>
                    <a:pt x="882967" y="198515"/>
                  </a:cubicBezTo>
                  <a:cubicBezTo>
                    <a:pt x="863917" y="211215"/>
                    <a:pt x="768667" y="194705"/>
                    <a:pt x="739457" y="190895"/>
                  </a:cubicBezTo>
                  <a:cubicBezTo>
                    <a:pt x="725487" y="189625"/>
                    <a:pt x="712787" y="190895"/>
                    <a:pt x="708977" y="184545"/>
                  </a:cubicBezTo>
                  <a:cubicBezTo>
                    <a:pt x="705167" y="180735"/>
                    <a:pt x="706437" y="168035"/>
                    <a:pt x="711517" y="164225"/>
                  </a:cubicBezTo>
                  <a:cubicBezTo>
                    <a:pt x="728027" y="151525"/>
                    <a:pt x="860107" y="173115"/>
                    <a:pt x="877887" y="187085"/>
                  </a:cubicBezTo>
                  <a:cubicBezTo>
                    <a:pt x="884237" y="192165"/>
                    <a:pt x="885507" y="198515"/>
                    <a:pt x="884237" y="203595"/>
                  </a:cubicBezTo>
                  <a:cubicBezTo>
                    <a:pt x="882967" y="207405"/>
                    <a:pt x="879157" y="209945"/>
                    <a:pt x="871537" y="211215"/>
                  </a:cubicBezTo>
                  <a:cubicBezTo>
                    <a:pt x="852487" y="216295"/>
                    <a:pt x="769937" y="208675"/>
                    <a:pt x="749617" y="201055"/>
                  </a:cubicBezTo>
                  <a:cubicBezTo>
                    <a:pt x="743267" y="198515"/>
                    <a:pt x="738187" y="193435"/>
                    <a:pt x="738187" y="189625"/>
                  </a:cubicBezTo>
                  <a:cubicBezTo>
                    <a:pt x="736917" y="185815"/>
                    <a:pt x="741997" y="178195"/>
                    <a:pt x="747077" y="175655"/>
                  </a:cubicBezTo>
                  <a:cubicBezTo>
                    <a:pt x="758507" y="171845"/>
                    <a:pt x="802957" y="183275"/>
                    <a:pt x="808037" y="193435"/>
                  </a:cubicBezTo>
                  <a:cubicBezTo>
                    <a:pt x="811847" y="199785"/>
                    <a:pt x="809307" y="211215"/>
                    <a:pt x="801687" y="216295"/>
                  </a:cubicBezTo>
                  <a:cubicBezTo>
                    <a:pt x="781367" y="228995"/>
                    <a:pt x="703897" y="201055"/>
                    <a:pt x="641667" y="197245"/>
                  </a:cubicBezTo>
                  <a:cubicBezTo>
                    <a:pt x="559117" y="192165"/>
                    <a:pt x="435927" y="202325"/>
                    <a:pt x="345757" y="190895"/>
                  </a:cubicBezTo>
                  <a:cubicBezTo>
                    <a:pt x="269557" y="180735"/>
                    <a:pt x="181927" y="160415"/>
                    <a:pt x="137477" y="140095"/>
                  </a:cubicBezTo>
                  <a:cubicBezTo>
                    <a:pt x="113347" y="129935"/>
                    <a:pt x="99377" y="123585"/>
                    <a:pt x="86677" y="107075"/>
                  </a:cubicBezTo>
                  <a:cubicBezTo>
                    <a:pt x="71437" y="88025"/>
                    <a:pt x="56197" y="34685"/>
                    <a:pt x="61277" y="24525"/>
                  </a:cubicBezTo>
                  <a:cubicBezTo>
                    <a:pt x="63817" y="20715"/>
                    <a:pt x="71437" y="19445"/>
                    <a:pt x="73977" y="20715"/>
                  </a:cubicBezTo>
                  <a:cubicBezTo>
                    <a:pt x="80327" y="27065"/>
                    <a:pt x="65087" y="98185"/>
                    <a:pt x="56197" y="103265"/>
                  </a:cubicBezTo>
                  <a:cubicBezTo>
                    <a:pt x="52387" y="104535"/>
                    <a:pt x="47307" y="101995"/>
                    <a:pt x="44767" y="98185"/>
                  </a:cubicBezTo>
                  <a:cubicBezTo>
                    <a:pt x="38417" y="89295"/>
                    <a:pt x="34607" y="25795"/>
                    <a:pt x="39687" y="24525"/>
                  </a:cubicBezTo>
                  <a:cubicBezTo>
                    <a:pt x="42227" y="23255"/>
                    <a:pt x="49847" y="33415"/>
                    <a:pt x="52387" y="42305"/>
                  </a:cubicBezTo>
                  <a:cubicBezTo>
                    <a:pt x="57467" y="58815"/>
                    <a:pt x="54927" y="109615"/>
                    <a:pt x="47307" y="123585"/>
                  </a:cubicBezTo>
                  <a:cubicBezTo>
                    <a:pt x="43497" y="129935"/>
                    <a:pt x="37147" y="135015"/>
                    <a:pt x="33337" y="132475"/>
                  </a:cubicBezTo>
                  <a:cubicBezTo>
                    <a:pt x="23177" y="129935"/>
                    <a:pt x="10477" y="77865"/>
                    <a:pt x="10477" y="56275"/>
                  </a:cubicBezTo>
                  <a:cubicBezTo>
                    <a:pt x="9207" y="41035"/>
                    <a:pt x="11747" y="18175"/>
                    <a:pt x="16827" y="15635"/>
                  </a:cubicBezTo>
                  <a:cubicBezTo>
                    <a:pt x="21907" y="14365"/>
                    <a:pt x="30797" y="19445"/>
                    <a:pt x="34607" y="27065"/>
                  </a:cubicBezTo>
                  <a:cubicBezTo>
                    <a:pt x="43497" y="46115"/>
                    <a:pt x="40957" y="141365"/>
                    <a:pt x="29527" y="148985"/>
                  </a:cubicBezTo>
                  <a:cubicBezTo>
                    <a:pt x="24447" y="151525"/>
                    <a:pt x="14287" y="147715"/>
                    <a:pt x="9207" y="141365"/>
                  </a:cubicBezTo>
                  <a:cubicBezTo>
                    <a:pt x="317" y="128665"/>
                    <a:pt x="-953" y="65165"/>
                    <a:pt x="5397" y="51195"/>
                  </a:cubicBezTo>
                  <a:cubicBezTo>
                    <a:pt x="9207" y="44845"/>
                    <a:pt x="15557" y="42305"/>
                    <a:pt x="19367" y="42305"/>
                  </a:cubicBezTo>
                  <a:cubicBezTo>
                    <a:pt x="23177" y="42305"/>
                    <a:pt x="28257" y="46115"/>
                    <a:pt x="30797" y="51195"/>
                  </a:cubicBezTo>
                  <a:cubicBezTo>
                    <a:pt x="35877" y="63895"/>
                    <a:pt x="19367" y="112155"/>
                    <a:pt x="23177" y="127395"/>
                  </a:cubicBezTo>
                  <a:cubicBezTo>
                    <a:pt x="25717" y="135015"/>
                    <a:pt x="34607" y="138825"/>
                    <a:pt x="34607" y="142635"/>
                  </a:cubicBezTo>
                  <a:cubicBezTo>
                    <a:pt x="33337" y="146445"/>
                    <a:pt x="21907" y="154065"/>
                    <a:pt x="19367" y="152795"/>
                  </a:cubicBezTo>
                  <a:cubicBezTo>
                    <a:pt x="15557" y="150255"/>
                    <a:pt x="11747" y="132475"/>
                    <a:pt x="14287" y="129935"/>
                  </a:cubicBezTo>
                  <a:cubicBezTo>
                    <a:pt x="16827" y="127395"/>
                    <a:pt x="33337" y="133745"/>
                    <a:pt x="34607" y="137555"/>
                  </a:cubicBezTo>
                  <a:cubicBezTo>
                    <a:pt x="34607" y="141365"/>
                    <a:pt x="24447" y="154065"/>
                    <a:pt x="20637" y="152795"/>
                  </a:cubicBezTo>
                  <a:cubicBezTo>
                    <a:pt x="13017" y="151525"/>
                    <a:pt x="4127" y="118505"/>
                    <a:pt x="1587" y="100725"/>
                  </a:cubicBezTo>
                  <a:cubicBezTo>
                    <a:pt x="-953" y="84215"/>
                    <a:pt x="-953" y="61355"/>
                    <a:pt x="5397" y="51195"/>
                  </a:cubicBezTo>
                  <a:cubicBezTo>
                    <a:pt x="9207" y="46115"/>
                    <a:pt x="18097" y="41035"/>
                    <a:pt x="21907" y="42305"/>
                  </a:cubicBezTo>
                  <a:cubicBezTo>
                    <a:pt x="26987" y="43575"/>
                    <a:pt x="29527" y="52465"/>
                    <a:pt x="32067" y="60085"/>
                  </a:cubicBezTo>
                  <a:cubicBezTo>
                    <a:pt x="37147" y="77865"/>
                    <a:pt x="43497" y="131205"/>
                    <a:pt x="34607" y="141365"/>
                  </a:cubicBezTo>
                  <a:cubicBezTo>
                    <a:pt x="29527" y="146445"/>
                    <a:pt x="15557" y="148985"/>
                    <a:pt x="10477" y="143905"/>
                  </a:cubicBezTo>
                  <a:cubicBezTo>
                    <a:pt x="-2223" y="133745"/>
                    <a:pt x="1587" y="42305"/>
                    <a:pt x="9207" y="24525"/>
                  </a:cubicBezTo>
                  <a:cubicBezTo>
                    <a:pt x="11747" y="18175"/>
                    <a:pt x="16827" y="15635"/>
                    <a:pt x="20637" y="15635"/>
                  </a:cubicBezTo>
                  <a:cubicBezTo>
                    <a:pt x="24447" y="14365"/>
                    <a:pt x="30797" y="18175"/>
                    <a:pt x="34607" y="24525"/>
                  </a:cubicBezTo>
                  <a:cubicBezTo>
                    <a:pt x="43497" y="41035"/>
                    <a:pt x="47307" y="127395"/>
                    <a:pt x="39687" y="132475"/>
                  </a:cubicBezTo>
                  <a:cubicBezTo>
                    <a:pt x="35877" y="133745"/>
                    <a:pt x="25717" y="127395"/>
                    <a:pt x="21907" y="119775"/>
                  </a:cubicBezTo>
                  <a:cubicBezTo>
                    <a:pt x="15557" y="105805"/>
                    <a:pt x="21907" y="58815"/>
                    <a:pt x="28257" y="38495"/>
                  </a:cubicBezTo>
                  <a:cubicBezTo>
                    <a:pt x="32067" y="24525"/>
                    <a:pt x="38417" y="10555"/>
                    <a:pt x="44767" y="6745"/>
                  </a:cubicBezTo>
                  <a:cubicBezTo>
                    <a:pt x="49847" y="5475"/>
                    <a:pt x="56197" y="5475"/>
                    <a:pt x="60007" y="10555"/>
                  </a:cubicBezTo>
                  <a:cubicBezTo>
                    <a:pt x="68897" y="20715"/>
                    <a:pt x="72707" y="89295"/>
                    <a:pt x="63817" y="98185"/>
                  </a:cubicBezTo>
                  <a:cubicBezTo>
                    <a:pt x="60007" y="103265"/>
                    <a:pt x="49847" y="101995"/>
                    <a:pt x="44767" y="98185"/>
                  </a:cubicBezTo>
                  <a:cubicBezTo>
                    <a:pt x="39687" y="94375"/>
                    <a:pt x="35877" y="79135"/>
                    <a:pt x="37147" y="66435"/>
                  </a:cubicBezTo>
                  <a:cubicBezTo>
                    <a:pt x="38417" y="48655"/>
                    <a:pt x="52387" y="2935"/>
                    <a:pt x="63817" y="395"/>
                  </a:cubicBezTo>
                  <a:cubicBezTo>
                    <a:pt x="71437" y="-2145"/>
                    <a:pt x="82867" y="8015"/>
                    <a:pt x="89217" y="18175"/>
                  </a:cubicBezTo>
                  <a:cubicBezTo>
                    <a:pt x="101917" y="35955"/>
                    <a:pt x="89217" y="84215"/>
                    <a:pt x="112077" y="107075"/>
                  </a:cubicBezTo>
                  <a:cubicBezTo>
                    <a:pt x="147637" y="142635"/>
                    <a:pt x="244157" y="150255"/>
                    <a:pt x="329247" y="162955"/>
                  </a:cubicBezTo>
                  <a:cubicBezTo>
                    <a:pt x="448627" y="180735"/>
                    <a:pt x="691197" y="173115"/>
                    <a:pt x="762317" y="183275"/>
                  </a:cubicBezTo>
                  <a:cubicBezTo>
                    <a:pt x="785177" y="185815"/>
                    <a:pt x="804227" y="185815"/>
                    <a:pt x="808037" y="193435"/>
                  </a:cubicBezTo>
                  <a:cubicBezTo>
                    <a:pt x="811847" y="198515"/>
                    <a:pt x="808037" y="212485"/>
                    <a:pt x="801687" y="216295"/>
                  </a:cubicBezTo>
                  <a:cubicBezTo>
                    <a:pt x="791527" y="221375"/>
                    <a:pt x="747077" y="207405"/>
                    <a:pt x="741997" y="197245"/>
                  </a:cubicBezTo>
                  <a:cubicBezTo>
                    <a:pt x="738187" y="192165"/>
                    <a:pt x="740727" y="180735"/>
                    <a:pt x="747077" y="175655"/>
                  </a:cubicBezTo>
                  <a:cubicBezTo>
                    <a:pt x="763587" y="164225"/>
                    <a:pt x="866457" y="173115"/>
                    <a:pt x="877887" y="187085"/>
                  </a:cubicBezTo>
                  <a:cubicBezTo>
                    <a:pt x="882967" y="193435"/>
                    <a:pt x="880427" y="206135"/>
                    <a:pt x="875347" y="211215"/>
                  </a:cubicBezTo>
                  <a:cubicBezTo>
                    <a:pt x="863917" y="220105"/>
                    <a:pt x="822007" y="211215"/>
                    <a:pt x="795337" y="207405"/>
                  </a:cubicBezTo>
                  <a:cubicBezTo>
                    <a:pt x="767397" y="202325"/>
                    <a:pt x="720407" y="198515"/>
                    <a:pt x="711517" y="187085"/>
                  </a:cubicBezTo>
                  <a:cubicBezTo>
                    <a:pt x="706437" y="180735"/>
                    <a:pt x="706437" y="169305"/>
                    <a:pt x="711517" y="164225"/>
                  </a:cubicBezTo>
                  <a:cubicBezTo>
                    <a:pt x="728027" y="150255"/>
                    <a:pt x="880427" y="160415"/>
                    <a:pt x="891857" y="176925"/>
                  </a:cubicBezTo>
                  <a:cubicBezTo>
                    <a:pt x="895667" y="182005"/>
                    <a:pt x="891857" y="193435"/>
                    <a:pt x="885507" y="198515"/>
                  </a:cubicBezTo>
                  <a:cubicBezTo>
                    <a:pt x="875347" y="206135"/>
                    <a:pt x="834707" y="197245"/>
                    <a:pt x="808037" y="194705"/>
                  </a:cubicBezTo>
                  <a:cubicBezTo>
                    <a:pt x="778827" y="189625"/>
                    <a:pt x="726757" y="187085"/>
                    <a:pt x="716597" y="174385"/>
                  </a:cubicBezTo>
                  <a:cubicBezTo>
                    <a:pt x="711517" y="168035"/>
                    <a:pt x="710247" y="156605"/>
                    <a:pt x="716597" y="151525"/>
                  </a:cubicBezTo>
                  <a:cubicBezTo>
                    <a:pt x="731837" y="136285"/>
                    <a:pt x="839787" y="152795"/>
                    <a:pt x="894397" y="159145"/>
                  </a:cubicBezTo>
                  <a:cubicBezTo>
                    <a:pt x="941387" y="165495"/>
                    <a:pt x="1012507" y="169305"/>
                    <a:pt x="1023937" y="184545"/>
                  </a:cubicBezTo>
                  <a:cubicBezTo>
                    <a:pt x="1029017" y="190895"/>
                    <a:pt x="1027747" y="202325"/>
                    <a:pt x="1021397" y="208675"/>
                  </a:cubicBezTo>
                  <a:cubicBezTo>
                    <a:pt x="998537" y="228995"/>
                    <a:pt x="824547" y="227725"/>
                    <a:pt x="766127" y="221375"/>
                  </a:cubicBezTo>
                  <a:cubicBezTo>
                    <a:pt x="735647" y="217565"/>
                    <a:pt x="707707" y="211215"/>
                    <a:pt x="697547" y="201055"/>
                  </a:cubicBezTo>
                  <a:cubicBezTo>
                    <a:pt x="693737" y="197245"/>
                    <a:pt x="692467" y="192165"/>
                    <a:pt x="692467" y="187085"/>
                  </a:cubicBezTo>
                  <a:cubicBezTo>
                    <a:pt x="693737" y="180735"/>
                    <a:pt x="703897" y="171845"/>
                    <a:pt x="710247" y="169305"/>
                  </a:cubicBezTo>
                  <a:cubicBezTo>
                    <a:pt x="716597" y="166765"/>
                    <a:pt x="730567" y="166765"/>
                    <a:pt x="733107" y="170575"/>
                  </a:cubicBezTo>
                  <a:cubicBezTo>
                    <a:pt x="735647" y="174385"/>
                    <a:pt x="726757" y="189625"/>
                    <a:pt x="726757" y="18962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3111703"/>
            <a:ext cx="3269102" cy="336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216" lvl="1" indent="-313108" algn="ctr">
              <a:lnSpc>
                <a:spcPts val="2900"/>
              </a:lnSpc>
              <a:buFont typeface="Arial"/>
              <a:buChar char="•"/>
            </a:pPr>
            <a:r>
              <a:rPr lang="en-US" sz="29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city-based product demand </a:t>
            </a:r>
          </a:p>
          <a:p>
            <a:pPr marL="626216" lvl="1" indent="-313108" algn="ctr">
              <a:lnSpc>
                <a:spcPts val="2900"/>
              </a:lnSpc>
              <a:buFont typeface="Arial"/>
              <a:buChar char="•"/>
            </a:pPr>
            <a:r>
              <a:rPr lang="en-US" sz="2900">
                <a:solidFill>
                  <a:srgbClr val="222222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fundamental data for regional segmentation and personalization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7889" y="1312864"/>
            <a:ext cx="16272222" cy="8122083"/>
          </a:xfrm>
          <a:custGeom>
            <a:avLst/>
            <a:gdLst/>
            <a:ahLst/>
            <a:cxnLst/>
            <a:rect l="l" t="t" r="r" b="b"/>
            <a:pathLst>
              <a:path w="16272222" h="8122083">
                <a:moveTo>
                  <a:pt x="0" y="0"/>
                </a:moveTo>
                <a:lnTo>
                  <a:pt x="16272222" y="0"/>
                </a:lnTo>
                <a:lnTo>
                  <a:pt x="16272222" y="8122083"/>
                </a:lnTo>
                <a:lnTo>
                  <a:pt x="0" y="8122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736104" y="319096"/>
            <a:ext cx="16815792" cy="723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What is the geographic distribution of total amount across cities?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7712" y="1478087"/>
            <a:ext cx="15652577" cy="7780213"/>
          </a:xfrm>
          <a:custGeom>
            <a:avLst/>
            <a:gdLst/>
            <a:ahLst/>
            <a:cxnLst/>
            <a:rect l="l" t="t" r="r" b="b"/>
            <a:pathLst>
              <a:path w="15652577" h="7780213">
                <a:moveTo>
                  <a:pt x="0" y="0"/>
                </a:moveTo>
                <a:lnTo>
                  <a:pt x="15652576" y="0"/>
                </a:lnTo>
                <a:lnTo>
                  <a:pt x="15652576" y="7780213"/>
                </a:lnTo>
                <a:lnTo>
                  <a:pt x="0" y="7780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268685" y="349242"/>
            <a:ext cx="15876315" cy="648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What is the distribution of orders by payment method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1724" y="6845870"/>
            <a:ext cx="2590615" cy="25906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 rot="-30000">
              <a:off x="0" y="0"/>
              <a:ext cx="812801" cy="812801"/>
            </a:xfrm>
            <a:custGeom>
              <a:avLst/>
              <a:gdLst/>
              <a:ahLst/>
              <a:cxnLst/>
              <a:rect l="l" t="t" r="r" b="b"/>
              <a:pathLst>
                <a:path w="812801" h="812801">
                  <a:moveTo>
                    <a:pt x="409946" y="15"/>
                  </a:moveTo>
                  <a:cubicBezTo>
                    <a:pt x="185506" y="-1943"/>
                    <a:pt x="1974" y="178414"/>
                    <a:pt x="15" y="402854"/>
                  </a:cubicBezTo>
                  <a:cubicBezTo>
                    <a:pt x="-1943" y="627293"/>
                    <a:pt x="178414" y="810826"/>
                    <a:pt x="402854" y="812785"/>
                  </a:cubicBezTo>
                  <a:cubicBezTo>
                    <a:pt x="627293" y="814743"/>
                    <a:pt x="810826" y="634386"/>
                    <a:pt x="812785" y="409946"/>
                  </a:cubicBezTo>
                  <a:cubicBezTo>
                    <a:pt x="814743" y="185506"/>
                    <a:pt x="634386" y="1974"/>
                    <a:pt x="409946" y="15"/>
                  </a:cubicBezTo>
                  <a:close/>
                </a:path>
              </a:pathLst>
            </a:custGeom>
            <a:blipFill>
              <a:blip r:embed="rId2"/>
              <a:stretch>
                <a:fillRect l="-13710" t="-40123" r="-47596" b="-21183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" name="Freeform 4"/>
          <p:cNvSpPr/>
          <p:nvPr/>
        </p:nvSpPr>
        <p:spPr>
          <a:xfrm>
            <a:off x="7919953" y="698117"/>
            <a:ext cx="9836592" cy="8890766"/>
          </a:xfrm>
          <a:custGeom>
            <a:avLst/>
            <a:gdLst/>
            <a:ahLst/>
            <a:cxnLst/>
            <a:rect l="l" t="t" r="r" b="b"/>
            <a:pathLst>
              <a:path w="9836592" h="8890766">
                <a:moveTo>
                  <a:pt x="0" y="0"/>
                </a:moveTo>
                <a:lnTo>
                  <a:pt x="9836592" y="0"/>
                </a:lnTo>
                <a:lnTo>
                  <a:pt x="9836592" y="8890766"/>
                </a:lnTo>
                <a:lnTo>
                  <a:pt x="0" y="889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TextBox 5"/>
          <p:cNvSpPr txBox="1"/>
          <p:nvPr/>
        </p:nvSpPr>
        <p:spPr>
          <a:xfrm>
            <a:off x="359150" y="127159"/>
            <a:ext cx="7066211" cy="296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3"/>
              </a:lnSpc>
            </a:pPr>
            <a:r>
              <a:rPr lang="en-US" sz="5503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Is there a relationship </a:t>
            </a:r>
          </a:p>
          <a:p>
            <a:pPr algn="l">
              <a:lnSpc>
                <a:spcPts val="5503"/>
              </a:lnSpc>
            </a:pPr>
            <a:r>
              <a:rPr lang="en-US" sz="5503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between delivery time </a:t>
            </a:r>
          </a:p>
          <a:p>
            <a:pPr algn="l">
              <a:lnSpc>
                <a:spcPts val="5503"/>
              </a:lnSpc>
            </a:pPr>
            <a:r>
              <a:rPr lang="en-US" sz="5503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and customer ratings </a:t>
            </a:r>
          </a:p>
          <a:p>
            <a:pPr algn="l">
              <a:lnSpc>
                <a:spcPts val="5503"/>
              </a:lnSpc>
              <a:spcBef>
                <a:spcPct val="0"/>
              </a:spcBef>
            </a:pPr>
            <a:r>
              <a:rPr lang="en-US" sz="5503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across cities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9150" y="3896415"/>
            <a:ext cx="6582073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No correlation </a:t>
            </a:r>
          </a:p>
          <a:p>
            <a:pPr marL="971550" lvl="1" indent="-485775" algn="l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Uniform performance</a:t>
            </a:r>
          </a:p>
          <a:p>
            <a:pPr algn="l">
              <a:lnSpc>
                <a:spcPts val="4500"/>
              </a:lnSpc>
            </a:pPr>
            <a:endParaRPr lang="en-US" sz="4500">
              <a:solidFill>
                <a:srgbClr val="000000"/>
              </a:solidFill>
              <a:latin typeface="Arsenica Antiqua"/>
              <a:ea typeface="Arsenica Antiqua"/>
              <a:cs typeface="Arsenica Antiqua"/>
              <a:sym typeface="Arsenica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7348" y="7535808"/>
            <a:ext cx="1424155" cy="2136232"/>
          </a:xfrm>
          <a:custGeom>
            <a:avLst/>
            <a:gdLst/>
            <a:ahLst/>
            <a:cxnLst/>
            <a:rect l="l" t="t" r="r" b="b"/>
            <a:pathLst>
              <a:path w="1424155" h="2136232">
                <a:moveTo>
                  <a:pt x="0" y="0"/>
                </a:moveTo>
                <a:lnTo>
                  <a:pt x="1424154" y="0"/>
                </a:lnTo>
                <a:lnTo>
                  <a:pt x="1424154" y="2136232"/>
                </a:lnTo>
                <a:lnTo>
                  <a:pt x="0" y="2136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2833327" y="1645165"/>
            <a:ext cx="14668831" cy="8026875"/>
          </a:xfrm>
          <a:custGeom>
            <a:avLst/>
            <a:gdLst/>
            <a:ahLst/>
            <a:cxnLst/>
            <a:rect l="l" t="t" r="r" b="b"/>
            <a:pathLst>
              <a:path w="14668831" h="8026875">
                <a:moveTo>
                  <a:pt x="0" y="0"/>
                </a:moveTo>
                <a:lnTo>
                  <a:pt x="14668831" y="0"/>
                </a:lnTo>
                <a:lnTo>
                  <a:pt x="14668831" y="8026875"/>
                </a:lnTo>
                <a:lnTo>
                  <a:pt x="0" y="8026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993056" y="443269"/>
            <a:ext cx="16301889" cy="81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What is the distribution of orders by device type per city?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30750" y="-276092"/>
            <a:ext cx="10563092" cy="10563092"/>
          </a:xfrm>
          <a:custGeom>
            <a:avLst/>
            <a:gdLst/>
            <a:ahLst/>
            <a:cxnLst/>
            <a:rect l="l" t="t" r="r" b="b"/>
            <a:pathLst>
              <a:path w="10563092" h="10563092">
                <a:moveTo>
                  <a:pt x="0" y="0"/>
                </a:moveTo>
                <a:lnTo>
                  <a:pt x="10563092" y="0"/>
                </a:lnTo>
                <a:lnTo>
                  <a:pt x="10563092" y="10563092"/>
                </a:lnTo>
                <a:lnTo>
                  <a:pt x="0" y="10563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3543300" y="306386"/>
            <a:ext cx="11201400" cy="136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00"/>
              </a:lnSpc>
              <a:spcBef>
                <a:spcPct val="0"/>
              </a:spcBef>
            </a:pPr>
            <a:r>
              <a:rPr lang="en-US" sz="8500">
                <a:solidFill>
                  <a:srgbClr val="F9A825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DASHBOARD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klenti 3">
                <a:extLst>
                  <a:ext uri="{FF2B5EF4-FFF2-40B4-BE49-F238E27FC236}">
                    <a16:creationId xmlns:a16="http://schemas.microsoft.com/office/drawing/2014/main" id="{D5BDCE14-1794-D77F-87DB-C7932E61FA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3297393"/>
                  </p:ext>
                </p:extLst>
              </p:nvPr>
            </p:nvGraphicFramePr>
            <p:xfrm>
              <a:off x="1143000" y="1968500"/>
              <a:ext cx="15011400" cy="75946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4" name="Eklenti 3">
                <a:extLst>
                  <a:ext uri="{FF2B5EF4-FFF2-40B4-BE49-F238E27FC236}">
                    <a16:creationId xmlns:a16="http://schemas.microsoft.com/office/drawing/2014/main" id="{D5BDCE14-1794-D77F-87DB-C7932E61FA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3000" y="1968500"/>
                <a:ext cx="15011400" cy="759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webextensions/webextension1.xml><?xml version="1.0" encoding="utf-8"?>
<we:webextension xmlns:we="http://schemas.microsoft.com/office/webextensions/webextension/2010/11" id="{61AA9119-6CFD-2647-B834-93015F0D0F60}">
  <we:reference id="wa200004798" version="1.0.1.0" store="tr-TR" storeType="OMEX"/>
  <we:alternateReferences>
    <we:reference id="WA200004798" version="1.0.1.0" store="" storeType="OMEX"/>
  </we:alternateReferences>
  <we:properties>
    <we:property name="embedForm" value="&quot;{\&quot;site\&quot;:\&quot;\&quot;,\&quot;domain\&quot;:\&quot;public.tableau.com\&quot;,\&quot;worksheet\&quot;:\&quot;Dashboard\&quot;,\&quot;dashboard\&quot;:\&quot;STAT112-UGURBOCEKLERI\&quot;,\&quot;tabs\&quot;:true,\&quot;toolbar\&quot;:true}&quot;"/>
    <we:property name="embedUrl" value="&quot;\&quot;https://public.tableau.com/views/STAT112-UGURBOCEKLERI/Dashboard\&quot;&quot;"/>
    <we:property name="filters" value="&quot;[]&quot;"/>
    <we:property name="isInstalled" value="&quot;true&quot;"/>
    <we:property name="marks" value="&quot;[]&quot;"/>
    <we:property name="parameters" value="&quot;[]&quot;"/>
    <we:property name="serverType" value="&quot;\&quot;public\&quot;&quot;"/>
    <we:property name="tabs" value="&quot;null&quot;"/>
    <we:property name="toolbar" value="&quot;null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124</Words>
  <Application>Microsoft Macintosh PowerPoint</Application>
  <PresentationFormat>Özel</PresentationFormat>
  <Paragraphs>28</Paragraphs>
  <Slides>10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6" baseType="lpstr">
      <vt:lpstr>Arsenica Antiqua</vt:lpstr>
      <vt:lpstr>Canva Sans</vt:lpstr>
      <vt:lpstr>Arial</vt:lpstr>
      <vt:lpstr>Calibri</vt:lpstr>
      <vt:lpstr>Aptos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Uğur Böcekleri</dc:title>
  <cp:lastModifiedBy>CEM OZCAN</cp:lastModifiedBy>
  <cp:revision>4</cp:revision>
  <dcterms:created xsi:type="dcterms:W3CDTF">2006-08-16T00:00:00Z</dcterms:created>
  <dcterms:modified xsi:type="dcterms:W3CDTF">2025-11-30T20:14:39Z</dcterms:modified>
  <dc:identifier>DAG5_xFhb0o</dc:identifier>
</cp:coreProperties>
</file>